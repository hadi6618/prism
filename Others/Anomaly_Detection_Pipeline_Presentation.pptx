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400" b="1">
                <a:solidFill>
                  <a:srgbClr val="F0F0F0"/>
                </a:solidFill>
                <a:latin typeface="Arial"/>
              </a:defRPr>
            </a:pPr>
            <a:r>
              <a:t>Ensemble Video Anomaly Detection</a:t>
            </a:r>
          </a:p>
          <a:p>
            <a:pPr algn="l">
              <a:spcAft>
                <a:spcPts val="2000"/>
              </a:spcAft>
              <a:defRPr sz="2400">
                <a:solidFill>
                  <a:srgbClr val="00A2FF"/>
                </a:solidFill>
                <a:latin typeface="Arial"/>
              </a:defRPr>
            </a:pPr>
            <a:r>
              <a:t>Deep Dive into MULDE and STG-NF Model Architectures</a:t>
            </a:r>
          </a:p>
          <a:p>
            <a:pPr algn="l">
              <a:defRPr sz="1400">
                <a:solidFill>
                  <a:srgbClr val="969696"/>
                </a:solidFill>
                <a:latin typeface="Arial"/>
              </a:defRPr>
            </a:pPr>
            <a:r>
              <a:t>ShanghaiTech Dataset Pipeline | Widescreen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212529"/>
                </a:solidFill>
                <a:latin typeface="Arial"/>
              </a:defRPr>
            </a:pPr>
            <a:r>
              <a:t>Appearance Stream: MULDE</a:t>
            </a:r>
          </a:p>
          <a:p>
            <a:pPr>
              <a:defRPr sz="1400">
                <a:solidFill>
                  <a:srgbClr val="4CAF50"/>
                </a:solidFill>
                <a:latin typeface="Arial"/>
              </a:defRPr>
            </a:pPr>
            <a:r>
              <a:t>Multiscale Log-Density Estimation on Video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1. Hiera-L Feature Extraction
</a:t>
            </a:r>
            <a:r>
              <a:rPr sz="1300">
                <a:solidFill>
                  <a:srgbClr val="505050"/>
                </a:solidFill>
                <a:latin typeface="Arial"/>
              </a:rPr>
              <a:t>Decodes video frames and extracts dense, high-dimensional visual feature vectors of size 1152 via a pretrained Hiera-L model.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2. Standardisation
</a:t>
            </a:r>
            <a:r>
              <a:rPr sz="1300">
                <a:solidFill>
                  <a:srgbClr val="505050"/>
                </a:solidFill>
                <a:latin typeface="Arial"/>
              </a:rPr>
              <a:t>Standardises feature vectors using global mean and variance calculated over the training set.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3. Multiscale Log-Density Estimation
</a:t>
            </a:r>
            <a:r>
              <a:rPr sz="1300">
                <a:solidFill>
                  <a:srgbClr val="505050"/>
                </a:solidFill>
                <a:latin typeface="Arial"/>
              </a:rPr>
              <a:t>Trained using Denoising Score Matching to estimate density gradients f_θ(x, σ) across 16 different noise scales (σ).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4. GMM Scoring &amp; Output
</a:t>
            </a:r>
            <a:r>
              <a:rPr sz="1300">
                <a:solidFill>
                  <a:srgbClr val="505050"/>
                </a:solidFill>
                <a:latin typeface="Arial"/>
              </a:rPr>
              <a:t>Fits a Gaussian Mixture Model (1, 3, or 5 components) on the multiscale log-densities. Negative log-likelihood yields raw anomaly scores, exported to mulde_scores.pkl.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E6F5E6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4CAF50"/>
                </a:solidFill>
                <a:latin typeface="Arial"/>
              </a:defRPr>
            </a:pPr>
            <a:r>
              <a:t>MULDE PIPELINE FLOW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Raw Video Frames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Hiera-L Features [N, 1152]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Multiscale Log-Density [N, 16]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GMM Anomaly Score [N]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4CAF50"/>
                </a:solidFill>
                <a:latin typeface="Arial"/>
              </a:defRPr>
            </a:pPr>
            <a:r>
              <a:t>mulde_scores.pkl (Unsmoothed)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212529"/>
                </a:solidFill>
                <a:latin typeface="Arial"/>
              </a:defRPr>
            </a:pPr>
            <a:r>
              <a:t>Pose Stream: STG-NF</a:t>
            </a:r>
          </a:p>
          <a:p>
            <a:pPr>
              <a:defRPr sz="1400">
                <a:solidFill>
                  <a:srgbClr val="FF5722"/>
                </a:solidFill>
                <a:latin typeface="Arial"/>
              </a:defRPr>
            </a:pPr>
            <a:r>
              <a:t>Spatio-Temporal Graph Normalizing Flows on Keypoint Trajectories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1. AlphaPose &amp; PoseFlow Tracking
</a:t>
            </a:r>
            <a:r>
              <a:rPr sz="1300">
                <a:solidFill>
                  <a:srgbClr val="505050"/>
                </a:solidFill>
                <a:latin typeface="Arial"/>
              </a:rPr>
              <a:t>Uses YOLOX-X to detect human bounding boxes, FastPose (ResNet152) to extract 17 COCO joints, and PoseFlow for tracking identities.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2. Format Conversion
</a:t>
            </a:r>
            <a:r>
              <a:rPr sz="1300">
                <a:solidFill>
                  <a:srgbClr val="505050"/>
                </a:solidFill>
                <a:latin typeface="Arial"/>
              </a:rPr>
              <a:t>Restructures raw frame-based JSON outputs into tracked person-centric coordinate dictionaries: {person_idx -&gt; {frame_idx -&gt; {keypoints, scores}}}.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3. Spatio-Temporal Graph Construction
</a:t>
            </a:r>
            <a:r>
              <a:rPr sz="1300">
                <a:solidFill>
                  <a:srgbClr val="505050"/>
                </a:solidFill>
                <a:latin typeface="Arial"/>
              </a:rPr>
              <a:t>Constructs graphs with Spatial Edges connecting joints within a frame, and Temporal Edges connecting matching joints across consecutive frames.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4. Normalizing Flows Likelihood &amp; Export
</a:t>
            </a:r>
            <a:r>
              <a:rPr sz="1300">
                <a:solidFill>
                  <a:srgbClr val="505050"/>
                </a:solidFill>
                <a:latin typeface="Arial"/>
              </a:rPr>
              <a:t>Graph Convolutional Normalizing Flow maps complex poses to a standard Gaussian space. Low-likelihood outliers flag anomalies, exported to stgnf_scores.pkl.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FFF0EB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FF5722"/>
                </a:solidFill>
                <a:latin typeface="Arial"/>
              </a:defRPr>
            </a:pPr>
            <a:r>
              <a:t>STG-NF PIPELINE FLOW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Raw Video Frames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AlphaPose &amp; PoseFlow Tracked Joints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Spatio-Temporal Skeletal Graph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GCN-Normalizing Flow Likelihood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212529"/>
                </a:solidFill>
                <a:latin typeface="Arial"/>
              </a:defRPr>
            </a:pPr>
            <a:r>
              <a:t>↓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5722"/>
                </a:solidFill>
                <a:latin typeface="Arial"/>
              </a:defRPr>
            </a:pPr>
            <a:r>
              <a:t>stgnf_scores.pkl (Unsmoothed)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212529"/>
                </a:solidFill>
                <a:latin typeface="Arial"/>
              </a:defRPr>
            </a:pPr>
            <a:r>
              <a:t>Deep Dive: MULDE Theory</a:t>
            </a:r>
          </a:p>
          <a:p>
            <a:pPr>
              <a:defRPr sz="1400">
                <a:solidFill>
                  <a:srgbClr val="4CAF50"/>
                </a:solidFill>
                <a:latin typeface="Arial"/>
              </a:defRPr>
            </a:pPr>
            <a:r>
              <a:t>Understanding Multiscale Log-Density Estimation &amp; Score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Denoising Score Matching
</a:t>
            </a:r>
            <a:r>
              <a:rPr sz="1300">
                <a:solidFill>
                  <a:srgbClr val="505050"/>
                </a:solidFill>
                <a:latin typeface="Arial"/>
              </a:rPr>
              <a:t>Instead of training a model to predict likelihood directly, MULDE learns to predict the score function—the gradient of the log-density: ∇_x log p(x).
This avoids calculating the intractable normalization partition function.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Multiscale Perturbation
</a:t>
            </a:r>
            <a:r>
              <a:rPr sz="1300">
                <a:solidFill>
                  <a:srgbClr val="505050"/>
                </a:solidFill>
                <a:latin typeface="Arial"/>
              </a:rPr>
              <a:t>By adding noise at 16 different noise levels (σ), the model learns both coarse global structures (high noise) and fine detail boundaries (low noise).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Feature Manifold Coverage
</a:t>
            </a:r>
            <a:r>
              <a:rPr sz="1300">
                <a:solidFill>
                  <a:srgbClr val="505050"/>
                </a:solidFill>
                <a:latin typeface="Arial"/>
              </a:rPr>
              <a:t>Visual features from Hiera-L sit on high-dimensional manifolds. Multiscale score matching ensures density gradients are accurate even in empty region boundaries.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Density Profile &amp; GMM Fitting
</a:t>
            </a:r>
            <a:r>
              <a:rPr sz="1300">
                <a:solidFill>
                  <a:srgbClr val="505050"/>
                </a:solidFill>
                <a:latin typeface="Arial"/>
              </a:rPr>
              <a:t>Evaluating score gradients at multiple noise scales forms a 16-dimensional signature vector for each frame. The GMM fits normal behaviors, mapping abnormal actions to low-likelihood outliers.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212529"/>
                </a:solidFill>
                <a:latin typeface="Arial"/>
              </a:defRPr>
            </a:pPr>
            <a:r>
              <a:t>Deep Dive: STG-NF Architecture</a:t>
            </a:r>
          </a:p>
          <a:p>
            <a:pPr>
              <a:defRPr sz="1400">
                <a:solidFill>
                  <a:srgbClr val="FF5722"/>
                </a:solidFill>
                <a:latin typeface="Arial"/>
              </a:defRPr>
            </a:pPr>
            <a:r>
              <a:t>Understanding Spatio-Temporal Graphs and Normalizing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Spatio-Temporal Graph (STG)
</a:t>
            </a:r>
            <a:r>
              <a:rPr sz="1300">
                <a:solidFill>
                  <a:srgbClr val="505050"/>
                </a:solidFill>
                <a:latin typeface="Arial"/>
              </a:rPr>
              <a:t>Represents poses as graphs. Spatial edges connect body joints (anatomy structures). Temporal edges connect matching joints in consecutive frames (dynamic trajectories).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Spatio-Temporal GCNs (ST-GCN)
</a:t>
            </a:r>
            <a:r>
              <a:rPr sz="1300">
                <a:solidFill>
                  <a:srgbClr val="505050"/>
                </a:solidFill>
                <a:latin typeface="Arial"/>
              </a:rPr>
              <a:t>Spatio-temporal graph convolutions extract joint features over space and time, preserving structural correlation and trajectory dynamics.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Normalizing Flows
</a:t>
            </a:r>
            <a:r>
              <a:rPr sz="1300">
                <a:solidFill>
                  <a:srgbClr val="505050"/>
                </a:solidFill>
                <a:latin typeface="Arial"/>
              </a:rPr>
              <a:t>Uses a sequence of invertible coordinate transformations (bijectors) to map highly complex spatio-temporal joint features into a standard Gaussian distribution.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12529"/>
                </a:solidFill>
                <a:latin typeface="Arial"/>
              </a:rPr>
              <a:t>Out-of-Distribution Detection
</a:t>
            </a:r>
            <a:r>
              <a:rPr sz="1300">
                <a:solidFill>
                  <a:srgbClr val="505050"/>
                </a:solidFill>
                <a:latin typeface="Arial"/>
              </a:rPr>
              <a:t>Since the flow model is trained purely on normal poses (walking, standing), abnormal behaviors (running, fighting) map to low probability densities in the latent Gaussian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